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9994392" cy="5120640"/>
          </a:xfrm>
          <a:prstGeom prst="roundRect">
            <a:avLst/>
          </a:prstGeom>
          <a:solidFill>
            <a:srgbClr val="4F46E5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8th SEMESTER  RESEARCH 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Explainable AI Framework</a:t>
            </a:r>
            <a:br/>
            <a:r>
              <a:t>for Credit Risk Prediction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063240"/>
            <a:ext cx="3959352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6B6D4"/>
                </a:solidFill>
                <a:latin typeface="Calibri"/>
              </a:defRPr>
            </a:pPr>
            <a:r>
              <a:t>Using Ensemble Learning &amp; SHAP Explainability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4023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B4B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4023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B4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4023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B4B"/>
                </a:solidFill>
                <a:latin typeface="Calibri"/>
              </a:defRPr>
            </a:pPr>
            <a:r>
              <a:t>🛠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0" y="402336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B4B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Bibhu Prasad Sahoo  &amp;  Soumyashree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9445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Under the Guidance of Research Faculty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247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247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7695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695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143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143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039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039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4876" y="5623560"/>
            <a:ext cx="137160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4876" y="5623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Why do banks need Explainable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  <a:latin typeface="Calibri"/>
              </a:defRPr>
            </a:pPr>
            <a:r>
              <a:t>Imagine a bank rejects your loan. You ask "Why?" and the answer is... "The computer said NO."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697480" cy="7315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2286000"/>
            <a:ext cx="822960" cy="8229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Black Box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AI says YES or NO, but</a:t>
            </a:r>
            <a:br/>
            <a:r>
              <a:t>cannot explain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63440"/>
            <a:ext cx="2423160" cy="100584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754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3F5E"/>
                </a:solidFill>
                <a:latin typeface="Calibri"/>
              </a:defRPr>
            </a:pPr>
            <a:r>
              <a:t>Banks don't know</a:t>
            </a:r>
            <a:br/>
            <a:r>
              <a:t>what influenced the</a:t>
            </a:r>
            <a:br/>
            <a:r>
              <a:t>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01168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201168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800" y="22860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Legal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6118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Laws like GDPR &amp; RBI rules</a:t>
            </a:r>
            <a:br/>
            <a:r>
              <a:t>say: "You MUST explain</a:t>
            </a:r>
            <a:br/>
            <a:r>
              <a:t>loan decisions."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663440"/>
            <a:ext cx="2423160" cy="10058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754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Banks can face heavy</a:t>
            </a:r>
            <a:br/>
            <a:r>
              <a:t>fines for unexplained</a:t>
            </a:r>
            <a:br/>
            <a:r>
              <a:t>rejections.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01168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011680"/>
            <a:ext cx="269748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95160" y="228600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No 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6118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If people don't understand</a:t>
            </a:r>
            <a:br/>
            <a:r>
              <a:t>the reason, they lose</a:t>
            </a:r>
            <a:br/>
            <a:r>
              <a:t>trust in the bank.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663440"/>
            <a:ext cx="242316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Applicants can't fix</a:t>
            </a:r>
            <a:br/>
            <a:r>
              <a:t>their profile if they</a:t>
            </a:r>
            <a:br/>
            <a:r>
              <a:t>don't know what's wrong.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011680"/>
            <a:ext cx="26974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40" y="2011680"/>
            <a:ext cx="2697480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75520" y="228600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246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Accuracy vs Clarity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61188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Complex AI = more accurate</a:t>
            </a:r>
            <a:br/>
            <a:r>
              <a:t>but harder to explain.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663440"/>
            <a:ext cx="2423160" cy="10058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75488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Simple AI = easy to explain</a:t>
            </a:r>
            <a:br/>
            <a:r>
              <a:t>but less accurate.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1600" y="6035040"/>
            <a:ext cx="9445752" cy="50292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6053328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SOLUTION:  Build a system that is BOTH accurate AND explainable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Our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What we set out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6002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Build Smart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Train 3 different AI models</a:t>
            </a:r>
            <a:br/>
            <a:r>
              <a:t>that vote together like a jury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23160" y="27432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40" y="137160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371600"/>
            <a:ext cx="214884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64408" y="160020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468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Make It Transparent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9260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Use SHAP to show exactly</a:t>
            </a:r>
            <a:br/>
            <a:r>
              <a:t>which factors drove the decision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54880" y="27432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137160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371600"/>
            <a:ext cx="214884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96128" y="16002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468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F46E5"/>
                </a:solidFill>
                <a:latin typeface="Calibri"/>
              </a:defRPr>
            </a:pPr>
            <a:r>
              <a:t>Build a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Create a web app where users</a:t>
            </a:r>
            <a:br/>
            <a:r>
              <a:t>can test and explore results live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86600" y="27432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137160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37160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7848" y="160020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468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Add AI 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9260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Auto-generate plain English</a:t>
            </a:r>
            <a:br/>
            <a:r>
              <a:t>explanations for every decision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18320" y="27432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0" y="1371600"/>
            <a:ext cx="2148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371600"/>
            <a:ext cx="21488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59568" y="160020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4688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Export PDF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2608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One-click professional reports</a:t>
            </a:r>
            <a:br/>
            <a:r>
              <a:t>with full analysis for audits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212080"/>
            <a:ext cx="868680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303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212080"/>
            <a:ext cx="868680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52303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5212080"/>
            <a:ext cx="868680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52303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5212080"/>
            <a:ext cx="868680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52303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41280" y="5212080"/>
            <a:ext cx="868680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523036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623560"/>
            <a:ext cx="10725912" cy="274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852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End Result:  A complete system that predicts loan risk accurately AND explains every decision in plain English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The tools we used to build this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34440"/>
            <a:ext cx="2743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🔧  Backend (Server Side)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🐍 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Core programming 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33472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33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⚡ 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Fast web API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4670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46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🧠  Scikit-Learn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2102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Machine learning library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5993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599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📊  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342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Explainability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7316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📈  Pandas /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474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Data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48640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F46E5"/>
                </a:solidFill>
                <a:latin typeface="Calibri"/>
              </a:defRPr>
            </a:pPr>
            <a:r>
              <a:t>📄  ReportLab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PDF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1234440"/>
            <a:ext cx="2743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1261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🖥  Frontend (User Interface)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192024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⚛  React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Interactive UI framework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2633472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633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⚡  Vite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29077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Ultra-fast build tool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334670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346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🎨  Tailwind CSS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62102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Beautiful styling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405993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40599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📉  Recharts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3342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Charts &amp; graphs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477316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📡  Axios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0474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API communication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548640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🌐  Nginx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5760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Web server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1234440"/>
            <a:ext cx="2743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1261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🐳  Deployment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192024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6364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📦  Docker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App packaging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2633472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2633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🔗  Docker Compose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9077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Running multiple containers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334670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3346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🔄  Hot Reload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362102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Live code updates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405993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40599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🔗  CORS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3342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Secure cross-origin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7920" y="477316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6364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📍  Ports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50474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Frontend: 3000, API: 8000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17920" y="548640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🔒  SSL Ready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5760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Secure deployment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52560" y="1234440"/>
            <a:ext cx="2743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52560" y="123444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0" y="12618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📋  Input Data (9 Features)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0" y="192024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972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👤  Age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18320" y="21945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Applicant's age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44000" y="2633472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89720" y="26334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💰  Income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290779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Yearly earnings (₹)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44000" y="334670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9720" y="33467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💵  Loan Amount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0" y="362102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Money requested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144000" y="405993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9720" y="40599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📈  Credit Score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18320" y="433425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Risk rating (300-850)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44000" y="477316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972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🏠  Experience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504748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Years working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44000" y="5486400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9720" y="5486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🎓  Education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0" y="57607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Qualification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The complete journey from loan application to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1B4B"/>
                </a:solidFill>
                <a:latin typeface="Calibri"/>
              </a:defRPr>
            </a:pPr>
            <a:r>
              <a:t>Applicant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Fills in loan</a:t>
            </a:r>
            <a:br/>
            <a:r>
              <a:t>details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28800" y="1417320"/>
            <a:ext cx="320040" cy="4572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1760" y="132588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React web</a:t>
            </a:r>
            <a:br/>
            <a:r>
              <a:t>interface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40480" y="1417320"/>
            <a:ext cx="320040" cy="4572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63440" y="132588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API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FastAPI</a:t>
            </a:r>
            <a:br/>
            <a:r>
              <a:t>processes data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52160" y="1417320"/>
            <a:ext cx="320040" cy="4572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0" y="132588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3 AI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Each votes</a:t>
            </a:r>
            <a:br/>
            <a:r>
              <a:t>Approve/Reject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63840" y="1417320"/>
            <a:ext cx="320040" cy="4572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388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0" y="132588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SHAP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Explains WHY</a:t>
            </a:r>
            <a:br/>
            <a:r>
              <a:t>the decision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75520" y="1417320"/>
            <a:ext cx="320040" cy="45720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95560" y="1234440"/>
            <a:ext cx="1691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0" y="13258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19659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AI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75569"/>
                </a:solidFill>
                <a:latin typeface="Calibri"/>
              </a:defRPr>
            </a:pPr>
            <a:r>
              <a:t>Plain English</a:t>
            </a:r>
            <a:br/>
            <a: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1B4B"/>
                </a:solidFill>
                <a:latin typeface="Calibri"/>
              </a:defRPr>
            </a:pPr>
            <a:r>
              <a:t>Step-by-Step: What happens when you click "Analyze"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900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4360" y="374904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You enter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Age, Income, Loan Amount,</a:t>
            </a:r>
            <a:br/>
            <a:r>
              <a:t>Credit Score, Education, etc.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342900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89120" y="374904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alibri"/>
              </a:defRPr>
            </a:pPr>
            <a:r>
              <a:t>Data is cleaned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Missing values filled, text</a:t>
            </a:r>
            <a:br/>
            <a:r>
              <a:t>converted to numbers, scaled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42900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83880" y="37490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 AI models vote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Random Forest, Logistic Regression</a:t>
            </a:r>
            <a:br/>
            <a:r>
              <a:t>&amp; Neural Network each predict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98348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94360" y="53035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Votes are combined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486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Average of all 3 gives the</a:t>
            </a:r>
            <a:br/>
            <a:r>
              <a:t>final approval probability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51960" y="498348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389120" y="53035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6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SHAP explains 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66360" y="5486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Shows which factors helped</a:t>
            </a:r>
            <a:br/>
            <a:r>
              <a:t>(+) or hurt (-) your chances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983480"/>
            <a:ext cx="36118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183880" y="530352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You get the answer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54864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Clear verdict, visual charts,</a:t>
            </a:r>
            <a:br/>
            <a:r>
              <a:t>actionable tips, and PDF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3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How our ensemble system makes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6118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118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🌳  Agent 1: 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333756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299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💡 Simple Analogy: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Like asking 100 experts</a:t>
            </a:r>
            <a:br/>
            <a:r>
              <a:t>and taking the majority vote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Creates 100 decision trees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Each tree votes on the application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Great at finding hidden patterns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Captures complex relationships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Lead agent for SHAP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280160"/>
            <a:ext cx="36118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611880" cy="5943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0759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📏  Agent 2: Logistic Regression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011680"/>
            <a:ext cx="3337560" cy="9144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299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💡 Simple Analogy: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860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Like a simple checklist:</a:t>
            </a:r>
            <a:br/>
            <a:r>
              <a:t>more points = higher chance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0896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A simple, transparent model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Creates a linear decision boundary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Easy to understand and explain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Provides reliable baseline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Good for regulatory reporting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280160"/>
            <a:ext cx="36118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61188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307592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🧠  Agent 3: Neural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011680"/>
            <a:ext cx="3337560" cy="91440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0299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💡 Simple Analogy: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Like a brain that learns</a:t>
            </a:r>
            <a:br/>
            <a:r>
              <a:t>from thousands of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10896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2 hidden layers (64 &amp; 32 neurons)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Learns very complex patterns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Finds subtle connections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Complements the other agents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Catches edge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6400800"/>
            <a:ext cx="8531352" cy="3200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6400800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Final Decision = Average of all 3 agents' votes (Consensus Approach)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How We Explain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Making AI transparent with SHAP, What-If &amp; Stress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5778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SHAP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Shows which factors helped or hurt your loan chances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Green bar (+) = Good for your approval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Red bar (-) = Hurt your chances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Longer bar = Bigger impact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Every feature gets a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00400"/>
            <a:ext cx="5303520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→ Example: High Credit Score = +0.15 (helps), Low Income = -0.20 (hurts)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80160"/>
            <a:ext cx="55778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146304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17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What-If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373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Tells you EXACTLY what to change to get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What if Credit Score was 50 points higher?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What if Income was 10% more?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What if Loan Amount was smaller?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Shows your path to approval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00400"/>
            <a:ext cx="5303520" cy="411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Calibri"/>
              </a:defRPr>
            </a:pPr>
            <a:r>
              <a:t>→ Example: "Increase your Credit Score by 30 points to reach 60% approval"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31920"/>
            <a:ext cx="55778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8640" y="411480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69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Sensitivity Heat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 color grid showing approval chances across different 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Green zone = High approval chance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Red zone = Low approval chance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X-axis: Credit Score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Y-axis: Income level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52160"/>
            <a:ext cx="5303520" cy="41148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97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→ Visual map: See your position and where you need to move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931920"/>
            <a:ext cx="55778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4114800"/>
            <a:ext cx="594360" cy="59436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069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Robustness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Tests if the AI decision is stable or easily changed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54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Score from 0 to 100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70+ = Decision is very stable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40-70 = Somewhat sensitive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1E293B"/>
                </a:solidFill>
                <a:latin typeface="Calibri"/>
              </a:rPr>
              <a:t>•  Below 40 = Small changes can flip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852160"/>
            <a:ext cx="5303520" cy="4114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897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43F5E"/>
                </a:solidFill>
                <a:latin typeface="Calibri"/>
              </a:defRPr>
            </a:pPr>
            <a:r>
              <a:t>→ Example: Score of 85 means the decision is reliable and consistent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What the user sees and interacts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1188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📝  Input Form (Left Side)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Enter your financial details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Credit Score slider (300-850)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Choose employment type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Select education level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Enter income &amp; loan amount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8016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611880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🎯  Top Cards (Results)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874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APPROVED or REJECTED badge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Confidence gauge (0-100%)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Lending Grade: EXL / MOD / OPT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SBI Special Offer if eligible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3258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💬  AI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745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Plain English explanation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Typewriter animation effect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Tells you WHY in simple words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Like having an AI advisor talk to you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361188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776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📊  SHAP Bar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8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Horizontal bars for each feature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Green bars = positive impact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Red bars = negative impact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See at a glance what matters most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93192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931920"/>
            <a:ext cx="36118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9776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👥  Agent Jury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52628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Shows all 3 agents' votes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Each agent's confidence level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Progress bars for visual clarity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Approve or Reject per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6118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611880" cy="4572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97764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🎯  What-If 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52628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Toggle sandbox mode 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Change any value instantly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See probability update LIVE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475569"/>
                </a:solidFill>
                <a:latin typeface="Calibri"/>
              </a:rPr>
              <a:t>•  Find the optimal profile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6B6D4"/>
                </a:solidFill>
                <a:latin typeface="Calibri"/>
              </a:defRPr>
            </a:pPr>
            <a:r>
              <a:t>What our framework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6974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96.5%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3 AI models</a:t>
            </a:r>
            <a:br/>
            <a:r>
              <a:t>working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280160"/>
            <a:ext cx="26974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Calibri"/>
              </a:defRPr>
            </a:pPr>
            <a:r>
              <a:t>~42ms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03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Results in the</a:t>
            </a:r>
            <a:br/>
            <a:r>
              <a:t>blink of an eye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26974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Explainable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Every decision</a:t>
            </a:r>
            <a:br/>
            <a:r>
              <a:t>fully transparent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280160"/>
            <a:ext cx="269748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031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Input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4688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Complete financial</a:t>
            </a:r>
            <a:br/>
            <a:r>
              <a:t>profile analyzed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B4B"/>
                </a:solidFill>
                <a:latin typeface="Calibri"/>
              </a:defRPr>
            </a:pPr>
            <a:r>
              <a:t>Key Highlights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77639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77639"/>
            <a:ext cx="54864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9592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✅   3 diverse AI models vote together for higher accuracy than any single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16551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16551"/>
            <a:ext cx="54864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434839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🔍   SHAP values mathematically prove which features drove each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55463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855463"/>
            <a:ext cx="54864" cy="3840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873751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💡   Rejected applicants get clear 'What to change' recommendations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94375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294375"/>
            <a:ext cx="54864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312663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💬   Complex ML outputs translated to simple English anyone can understand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33287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733287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751575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📄   One-click PDF reports with full audit trail for regulatory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172199"/>
            <a:ext cx="11274552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6172199"/>
            <a:ext cx="54864" cy="3840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90487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🛡   Robustness testing ensures predictions are stable and reliable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57200"/>
            <a:ext cx="5486400" cy="3017520"/>
          </a:xfrm>
          <a:prstGeom prst="roundRect">
            <a:avLst/>
          </a:prstGeom>
          <a:solidFill>
            <a:srgbClr val="4F46E5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✅ 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EFF"/>
                </a:solidFill>
                <a:latin typeface="Calibri"/>
              </a:defRPr>
            </a:pPr>
            <a:r>
              <a:t>✓  A complete AI system that predicts credit risk with 96.5%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EFF"/>
                </a:solidFill>
                <a:latin typeface="Calibri"/>
              </a:defRPr>
            </a:pPr>
            <a:r>
              <a:t>✓  Every prediction comes with a full, transparent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653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EFF"/>
                </a:solidFill>
                <a:latin typeface="Calibri"/>
              </a:defRPr>
            </a:pPr>
            <a:r>
              <a:t>✓  Interactive dashboard for real-time exploration and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94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EFF"/>
                </a:solidFill>
                <a:latin typeface="Calibri"/>
              </a:defRPr>
            </a:pPr>
            <a:r>
              <a:t>✓  Automated PDF reports for compliance and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CFEFF"/>
                </a:solidFill>
                <a:latin typeface="Calibri"/>
              </a:defRPr>
            </a:pPr>
            <a:r>
              <a:t>✓  Proves that AI can be both powerful AND understandable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"/>
            <a:ext cx="5486400" cy="301752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48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B4B"/>
                </a:solidFill>
                <a:latin typeface="Calibri"/>
              </a:defRPr>
            </a:pPr>
            <a:r>
              <a:t>🚀  What's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B4B"/>
                </a:solidFill>
                <a:latin typeface="Calibri"/>
              </a:defRPr>
            </a:pPr>
            <a:r>
              <a:t>→  Add more explanation methods (LIME, Anchors)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B4B"/>
                </a:solidFill>
                <a:latin typeface="Calibri"/>
              </a:defRPr>
            </a:pPr>
            <a:r>
              <a:t>→  Include advanced models (XGBoost, LightGBM)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653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B4B"/>
                </a:solidFill>
                <a:latin typeface="Calibri"/>
              </a:defRPr>
            </a:pPr>
            <a:r>
              <a:t>→  Cloud deployment (AWS / GCP / Azure)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942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B4B"/>
                </a:solidFill>
                <a:latin typeface="Calibri"/>
              </a:defRPr>
            </a:pPr>
            <a:r>
              <a:t>→  Fairness checks across demographic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33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B4B"/>
                </a:solidFill>
                <a:latin typeface="Calibri"/>
              </a:defRPr>
            </a:pPr>
            <a:r>
              <a:t>→  Real-time model monitoring &amp; drift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49039"/>
            <a:ext cx="8531352" cy="2560320"/>
          </a:xfrm>
          <a:prstGeom prst="roundRect">
            <a:avLst/>
          </a:prstGeom>
          <a:solidFill>
            <a:srgbClr val="1E1B4B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931920"/>
            <a:ext cx="8165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709160"/>
            <a:ext cx="2130552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49377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Calibri"/>
              </a:defRPr>
            </a:pPr>
            <a:r>
              <a:t>Questions &amp; Discussion Welcome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94960"/>
            <a:ext cx="8165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Bibhu Prasad Sahoo  &amp;  Soumyashree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760720"/>
            <a:ext cx="8165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8th Semester Research Project</a:t>
            </a:r>
          </a:p>
        </p:txBody>
      </p:sp>
      <p:sp>
        <p:nvSpPr>
          <p:cNvPr id="24" name="Oval 23"/>
          <p:cNvSpPr/>
          <p:nvPr/>
        </p:nvSpPr>
        <p:spPr>
          <a:xfrm>
            <a:off x="3749039" y="61264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5" name="Oval 24"/>
          <p:cNvSpPr/>
          <p:nvPr/>
        </p:nvSpPr>
        <p:spPr>
          <a:xfrm>
            <a:off x="4937759" y="61264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Oval 25"/>
          <p:cNvSpPr/>
          <p:nvPr/>
        </p:nvSpPr>
        <p:spPr>
          <a:xfrm>
            <a:off x="6126479" y="61264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7" name="Oval 26"/>
          <p:cNvSpPr/>
          <p:nvPr/>
        </p:nvSpPr>
        <p:spPr>
          <a:xfrm>
            <a:off x="7315199" y="61264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1B4B"/>
                </a:solidFill>
                <a:latin typeface="Calibri"/>
              </a:defRPr>
            </a:pPr>
            <a:r>
              <a:t>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